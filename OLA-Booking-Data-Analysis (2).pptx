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erif Medium"/>
      <p:regular r:id="rId17"/>
    </p:embeddedFont>
    <p:embeddedFont>
      <p:font typeface="Noto Serif"/>
      <p:regular r:id="rId18"/>
    </p:embeddedFont>
    <p:embeddedFont>
      <p:font typeface="Noto Serif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30549"/>
            <a:ext cx="46673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OLA Booking Data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613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May 2024 · 100,000 Records · 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455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1904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100K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0667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7328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May 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421904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60,288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20667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Unique Customers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54462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7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1603697" y="35993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Vehicle Types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905845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Auto, Mini, Bike, E-Bike &amp; more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0553" y="2954462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5768206" y="35993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Booking Statuses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0553" y="390584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Success, Cancelled, Incomplete…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29212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16 columns · 50 pickup &amp; 50 drop locations · Most common: Pisoli → Wanowrie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38979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 EDA Highlights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1511201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5037" y="1506810"/>
            <a:ext cx="19884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62,094 Successful Rides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85037" y="1870025"/>
            <a:ext cx="2167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Most frequent booking status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7471" y="2384747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5037" y="23803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Auto: Most Booked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485037" y="2743572"/>
            <a:ext cx="2167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25,077 bookings in May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7471" y="3258294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85037" y="3253904"/>
            <a:ext cx="216753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 VTAT ~8 min · CTAT ~6.5 min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85037" y="3838575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NaN values only for non-successful rides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123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 Findings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87735"/>
            <a:ext cx="8151763" cy="3294459"/>
          </a:xfrm>
          <a:prstGeom prst="roundRect">
            <a:avLst>
              <a:gd name="adj" fmla="val 18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714" y="1382316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#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96442" y="1382316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41850" y="1382316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1793528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6442" y="1793528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Successful Bookings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41850" y="1793528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62,094 rides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714" y="2204740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6442" y="2204740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Avg Ride Distance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41850" y="2204740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~18 km across all vehicle types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615952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6442" y="2615952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Cancellations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41850" y="2615952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~6,872 rides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027164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6442" y="3027164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Top Customer Rides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1850" y="3027164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Max 7 rides in May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3438376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6442" y="3438376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 Cancellation Reason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1850" y="3438376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Personal &amp; Car issues (#1)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714" y="3849588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96442" y="3849588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Prime Sedan Ratings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1850" y="3849588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Max 5.0 · Min 1.0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714" y="4260800"/>
            <a:ext cx="365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96442" y="4260800"/>
            <a:ext cx="3457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Total Booking 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1850" y="4260800"/>
            <a:ext cx="3459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~32.42M INR (successful)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30696"/>
            <a:ext cx="399663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 — Overall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822424"/>
            <a:ext cx="4631680" cy="26514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3759" y="3563541"/>
            <a:ext cx="3628355" cy="584746"/>
          </a:xfrm>
          <a:prstGeom prst="roundRect">
            <a:avLst>
              <a:gd name="adj" fmla="val 76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14785" y="367456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62.09%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14785" y="3888432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 rate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11812" y="3563541"/>
            <a:ext cx="3628355" cy="584746"/>
          </a:xfrm>
          <a:prstGeom prst="roundRect">
            <a:avLst>
              <a:gd name="adj" fmla="val 76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22837" y="367456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17.99%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22837" y="3888432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Cancelled by Driver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903759" y="4227984"/>
            <a:ext cx="3628355" cy="584746"/>
          </a:xfrm>
          <a:prstGeom prst="roundRect">
            <a:avLst>
              <a:gd name="adj" fmla="val 76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14785" y="433901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6.87%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14785" y="4552876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Cancelled by Customer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11812" y="4227984"/>
            <a:ext cx="3628355" cy="584746"/>
          </a:xfrm>
          <a:prstGeom prst="roundRect">
            <a:avLst>
              <a:gd name="adj" fmla="val 76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22837" y="433901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5.97%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22837" y="4552876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Incomplete Rides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4414" y="247576"/>
            <a:ext cx="4725814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 — Vehicle Type &amp; Revenue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414" y="598363"/>
            <a:ext cx="3618309" cy="204378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414" y="2695426"/>
            <a:ext cx="3579465" cy="20437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44414" y="4792489"/>
            <a:ext cx="5655171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</a:t>
            </a:r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leads revenue at 7.69M INR · </a:t>
            </a:r>
            <a:pPr algn="l" indent="0" marL="0">
              <a:lnSpc>
                <a:spcPts val="800"/>
              </a:lnSpc>
              <a:buNone/>
            </a:pPr>
            <a:r>
              <a:rPr lang="en-US" sz="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Mini</a:t>
            </a:r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second at 6.12M · All types avg ~18 km/ride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223838"/>
            <a:ext cx="442875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 — Cancellations &amp; Ratings</a:t>
            </a:r>
            <a:endParaRPr lang="en-US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261" y="550887"/>
            <a:ext cx="3387775" cy="193335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61" y="2531864"/>
            <a:ext cx="3392016" cy="19332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97261" y="4512766"/>
            <a:ext cx="5349478" cy="406822"/>
          </a:xfrm>
          <a:prstGeom prst="roundRect">
            <a:avLst>
              <a:gd name="adj" fmla="val 8004"/>
            </a:avLst>
          </a:prstGeom>
          <a:solidFill>
            <a:srgbClr val="F2EDE5"/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0160" dir="2700000">
              <a:srgbClr val="ccc4b8">
                <a:alpha val="100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902023" y="4517529"/>
            <a:ext cx="2669977" cy="397297"/>
          </a:xfrm>
          <a:prstGeom prst="roundRect">
            <a:avLst>
              <a:gd name="adj" fmla="val 8196"/>
            </a:avLst>
          </a:prstGeom>
          <a:solidFill>
            <a:srgbClr val="F2EDE5"/>
          </a:solidFill>
          <a:ln/>
        </p:spPr>
      </p:sp>
      <p:sp>
        <p:nvSpPr>
          <p:cNvPr id="7" name="Text 3"/>
          <p:cNvSpPr/>
          <p:nvPr/>
        </p:nvSpPr>
        <p:spPr>
          <a:xfrm>
            <a:off x="1979488" y="4594994"/>
            <a:ext cx="117462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24.86% Cancellation Rate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979488" y="4741441"/>
            <a:ext cx="2515046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Top customer reason: driver not moving to pickup (23.34%)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4572000" y="4517529"/>
            <a:ext cx="2669977" cy="397297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0" name="Shape 6"/>
          <p:cNvSpPr/>
          <p:nvPr/>
        </p:nvSpPr>
        <p:spPr>
          <a:xfrm>
            <a:off x="4572000" y="4517529"/>
            <a:ext cx="9525" cy="397297"/>
          </a:xfrm>
          <a:prstGeom prst="roundRect">
            <a:avLst>
              <a:gd name="adj" fmla="val 341860"/>
            </a:avLst>
          </a:prstGeom>
          <a:solidFill>
            <a:srgbClr val="CCC4B8"/>
          </a:solidFill>
          <a:ln/>
        </p:spPr>
      </p:sp>
      <p:sp>
        <p:nvSpPr>
          <p:cNvPr id="11" name="Text 7"/>
          <p:cNvSpPr/>
          <p:nvPr/>
        </p:nvSpPr>
        <p:spPr>
          <a:xfrm>
            <a:off x="4649465" y="4594994"/>
            <a:ext cx="135076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~4.0 Ratings Across All Types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649465" y="4741441"/>
            <a:ext cx="2515046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Stable service quality platform-wide (3.99–4.01)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42562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Revenue by Vehicle Type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0170" y="1995838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7.69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3392670" y="2288392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6.12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3107991" y="258094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5.47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2717984" y="2873499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4.56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2339205" y="3166053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3.67</a:t>
            </a:r>
            <a:endParaRPr lang="en-US" sz="400" dirty="0"/>
          </a:p>
        </p:txBody>
      </p:sp>
      <p:sp>
        <p:nvSpPr>
          <p:cNvPr id="9" name="Text 6"/>
          <p:cNvSpPr/>
          <p:nvPr/>
        </p:nvSpPr>
        <p:spPr>
          <a:xfrm>
            <a:off x="1827432" y="3458606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2.48</a:t>
            </a:r>
            <a:endParaRPr lang="en-US" sz="400" dirty="0"/>
          </a:p>
        </p:txBody>
      </p:sp>
      <p:sp>
        <p:nvSpPr>
          <p:cNvPr id="10" name="Text 7"/>
          <p:cNvSpPr/>
          <p:nvPr/>
        </p:nvSpPr>
        <p:spPr>
          <a:xfrm>
            <a:off x="1806061" y="3751160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2.43</a:t>
            </a:r>
            <a:endParaRPr lang="en-US" sz="400" dirty="0"/>
          </a:p>
        </p:txBody>
      </p:sp>
      <p:sp>
        <p:nvSpPr>
          <p:cNvPr id="11" name="Text 8"/>
          <p:cNvSpPr/>
          <p:nvPr/>
        </p:nvSpPr>
        <p:spPr>
          <a:xfrm>
            <a:off x="4749701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Total: 32.42M INR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 dominates with highest bookings </a:t>
            </a:r>
            <a:pPr algn="l" indent="0" marL="0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and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highest revenue — driven by sheer demand volume.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49701" y="2765301"/>
            <a:ext cx="3902943" cy="1056010"/>
          </a:xfrm>
          <a:prstGeom prst="roundRect">
            <a:avLst>
              <a:gd name="adj" fmla="val 5638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85120"/>
            <a:ext cx="177180" cy="1417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0398" y="2942481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Prime SUV &amp; E-Bike have the lowest booking values — prime targets for promotional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84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Findings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14934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464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Auto Dominates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45298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Most booked · Highest revenue (7.69M INR) · Highest cancellations (6,246)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14934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1464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62.09% Success Rate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45298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62,094 rides completed · 32.42M INR total value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9013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721671"/>
            <a:ext cx="1802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24.86% Cancellations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402818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Driver-side issues are primary cause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190131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7216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Stable ~4.0 Ratings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402818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Consistent across all 7 vehicle types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47729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207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Fix Driver Cancellations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Stricter policies + vehicle maintenance checks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21049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Improve GPS Navigation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Reduce #1 complaint: driver not moving to pickup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2068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Scale Auto &amp; Mini Fleets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more during peak hours to maximize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213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Reward Loyal Customers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Loyalty discounts for top customers (e.g. CUST20370)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24581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Promote Prime SUV &amp; E-Bike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Targeted discounts to boost low-demand segments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2026-05-14T10:06:32Z</dcterms:created>
  <dcterms:modified xsi:type="dcterms:W3CDTF">2026-05-14T10:06:32Z</dcterms:modified>
</cp:coreProperties>
</file>